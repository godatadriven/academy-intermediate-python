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12" r:id="rId4"/>
  </p:sldMasterIdLst>
  <p:notesMasterIdLst>
    <p:notesMasterId r:id="rId13"/>
  </p:notesMasterIdLst>
  <p:sldIdLst>
    <p:sldId id="463" r:id="rId5"/>
    <p:sldId id="482" r:id="rId6"/>
    <p:sldId id="489" r:id="rId7"/>
    <p:sldId id="483" r:id="rId8"/>
    <p:sldId id="484" r:id="rId9"/>
    <p:sldId id="487" r:id="rId10"/>
    <p:sldId id="488" r:id="rId11"/>
    <p:sldId id="32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E9F66E6-0399-B74C-BAC9-C0ABE5936030}">
          <p14:sldIdLst>
            <p14:sldId id="463"/>
            <p14:sldId id="482"/>
            <p14:sldId id="489"/>
            <p14:sldId id="483"/>
            <p14:sldId id="484"/>
            <p14:sldId id="487"/>
            <p14:sldId id="488"/>
            <p14:sldId id="32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1D5F"/>
    <a:srgbClr val="4A1E47"/>
    <a:srgbClr val="01B2E5"/>
    <a:srgbClr val="AEB1B9"/>
    <a:srgbClr val="59AED8"/>
    <a:srgbClr val="1EB0E0"/>
    <a:srgbClr val="2A3154"/>
    <a:srgbClr val="EE7930"/>
    <a:srgbClr val="EE782F"/>
    <a:srgbClr val="1A1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56" autoAdjust="0"/>
    <p:restoredTop sz="92052"/>
  </p:normalViewPr>
  <p:slideViewPr>
    <p:cSldViewPr snapToGrid="0">
      <p:cViewPr varScale="1">
        <p:scale>
          <a:sx n="102" d="100"/>
          <a:sy n="102" d="100"/>
        </p:scale>
        <p:origin x="2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17" d="100"/>
          <a:sy n="117" d="100"/>
        </p:scale>
        <p:origin x="4200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874D4-42FF-C247-B2C3-39F4D1910A97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C5157-30F3-2B45-83A6-18F939AD7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14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1C5157-30F3-2B45-83A6-18F939AD7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443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4A1E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Montserra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fld id="{846CE7D5-CF57-46EF-B807-FDD0502418D4}" type="datetimeFigureOut">
              <a:rPr lang="en-US" smtClean="0"/>
              <a:pPr/>
              <a:t>12/3/25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31E5A81-D98B-923F-FC54-D47A7FADD8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5803371"/>
            <a:ext cx="1846995" cy="40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23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23263C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rgbClr val="23263C"/>
                </a:solidFill>
                <a:latin typeface="Museo Sans 500" panose="02000000000000000000" pitchFamily="2" charset="77"/>
              </a:defRPr>
            </a:lvl1pPr>
            <a:lvl2pPr>
              <a:defRPr>
                <a:solidFill>
                  <a:srgbClr val="23263C"/>
                </a:solidFill>
                <a:latin typeface="Museo Sans 500" panose="02000000000000000000" pitchFamily="2" charset="77"/>
              </a:defRPr>
            </a:lvl2pPr>
            <a:lvl3pPr>
              <a:defRPr>
                <a:solidFill>
                  <a:srgbClr val="23263C"/>
                </a:solidFill>
                <a:latin typeface="Museo Sans 500" panose="02000000000000000000" pitchFamily="2" charset="77"/>
              </a:defRPr>
            </a:lvl3pPr>
            <a:lvl4pPr>
              <a:defRPr>
                <a:solidFill>
                  <a:srgbClr val="23263C"/>
                </a:solidFill>
                <a:latin typeface="Museo Sans 500" panose="02000000000000000000" pitchFamily="2" charset="77"/>
              </a:defRPr>
            </a:lvl4pPr>
            <a:lvl5pPr>
              <a:defRPr>
                <a:solidFill>
                  <a:srgbClr val="23263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useo Sans 500" panose="02000000000000000000" pitchFamily="2" charset="77"/>
              </a:defRPr>
            </a:lvl1pPr>
          </a:lstStyle>
          <a:p>
            <a:fld id="{846CE7D5-CF57-46EF-B807-FDD0502418D4}" type="datetimeFigureOut">
              <a:rPr lang="en-US" smtClean="0"/>
              <a:pPr/>
              <a:t>12/3/25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useo Sans 500" panose="02000000000000000000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C104B39E-4506-D12D-509D-CED05DB10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711" y="5623950"/>
            <a:ext cx="2248541" cy="80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481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6A1D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Museo Sans 500" panose="02000000000000000000" pitchFamily="2" charset="77"/>
              </a:defRPr>
            </a:lvl1pPr>
            <a:lvl2pPr>
              <a:defRPr>
                <a:solidFill>
                  <a:schemeClr val="bg1"/>
                </a:solidFill>
                <a:latin typeface="Museo Sans 500" panose="02000000000000000000" pitchFamily="2" charset="77"/>
              </a:defRPr>
            </a:lvl2pPr>
            <a:lvl3pPr>
              <a:defRPr>
                <a:solidFill>
                  <a:schemeClr val="bg1"/>
                </a:solidFill>
                <a:latin typeface="Museo Sans 500" panose="02000000000000000000" pitchFamily="2" charset="77"/>
              </a:defRPr>
            </a:lvl3pPr>
            <a:lvl4pPr>
              <a:defRPr>
                <a:solidFill>
                  <a:schemeClr val="bg1"/>
                </a:solidFill>
                <a:latin typeface="Museo Sans 500" panose="02000000000000000000" pitchFamily="2" charset="77"/>
              </a:defRPr>
            </a:lvl4pPr>
            <a:lvl5pPr>
              <a:defRPr>
                <a:solidFill>
                  <a:schemeClr val="bg1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Museo Sans 500" panose="02000000000000000000" pitchFamily="2" charset="77"/>
              </a:defRPr>
            </a:lvl1pPr>
          </a:lstStyle>
          <a:p>
            <a:fld id="{846CE7D5-CF57-46EF-B807-FDD0502418D4}" type="datetimeFigureOut">
              <a:rPr lang="en-US" smtClean="0"/>
              <a:pPr/>
              <a:t>12/3/25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310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4A1E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Museo Sans 500" panose="02000000000000000000" pitchFamily="2" charset="77"/>
              </a:defRPr>
            </a:lvl1pPr>
            <a:lvl2pPr>
              <a:defRPr>
                <a:solidFill>
                  <a:schemeClr val="bg1"/>
                </a:solidFill>
                <a:latin typeface="Museo Sans 500" panose="02000000000000000000" pitchFamily="2" charset="77"/>
              </a:defRPr>
            </a:lvl2pPr>
            <a:lvl3pPr>
              <a:defRPr>
                <a:solidFill>
                  <a:schemeClr val="bg1"/>
                </a:solidFill>
                <a:latin typeface="Museo Sans 500" panose="02000000000000000000" pitchFamily="2" charset="77"/>
              </a:defRPr>
            </a:lvl3pPr>
            <a:lvl4pPr>
              <a:defRPr>
                <a:solidFill>
                  <a:schemeClr val="bg1"/>
                </a:solidFill>
                <a:latin typeface="Museo Sans 500" panose="02000000000000000000" pitchFamily="2" charset="77"/>
              </a:defRPr>
            </a:lvl4pPr>
            <a:lvl5pPr>
              <a:defRPr>
                <a:solidFill>
                  <a:schemeClr val="bg1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Museo Sans 500" panose="02000000000000000000" pitchFamily="2" charset="77"/>
              </a:defRPr>
            </a:lvl1pPr>
          </a:lstStyle>
          <a:p>
            <a:fld id="{846CE7D5-CF57-46EF-B807-FDD0502418D4}" type="datetimeFigureOut">
              <a:rPr lang="en-US" smtClean="0"/>
              <a:pPr/>
              <a:t>12/3/25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720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800" b="0">
                <a:latin typeface="Museo Sans 500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6A1D5F"/>
                </a:solidFill>
                <a:latin typeface="Museo Sans 500" panose="02000000000000000000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0FF2746-2A89-982B-7914-224D2BAC04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711" y="5623950"/>
            <a:ext cx="2248541" cy="80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656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rgbClr val="6A1D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1A1D33"/>
                </a:solidFill>
                <a:latin typeface="Museo Sans 500" panose="02000000000000000000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pPr/>
              <a:t>12/3/25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50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92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555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233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9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82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43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35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8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3" r:id="rId1"/>
    <p:sldLayoutId id="2147484224" r:id="rId2"/>
    <p:sldLayoutId id="2147484225" r:id="rId3"/>
    <p:sldLayoutId id="2147484214" r:id="rId4"/>
    <p:sldLayoutId id="2147484215" r:id="rId5"/>
    <p:sldLayoutId id="2147484226" r:id="rId6"/>
    <p:sldLayoutId id="2147484216" r:id="rId7"/>
    <p:sldLayoutId id="2147484217" r:id="rId8"/>
    <p:sldLayoutId id="2147484218" r:id="rId9"/>
    <p:sldLayoutId id="2147484219" r:id="rId10"/>
    <p:sldLayoutId id="2147484220" r:id="rId11"/>
    <p:sldLayoutId id="2147484221" r:id="rId12"/>
    <p:sldLayoutId id="214748422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D14B35-2CBD-D245-BC55-9BA3B12BF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line scripts</a:t>
            </a:r>
          </a:p>
        </p:txBody>
      </p:sp>
    </p:spTree>
    <p:extLst>
      <p:ext uri="{BB962C8B-B14F-4D97-AF65-F5344CB8AC3E}">
        <p14:creationId xmlns:p14="http://schemas.microsoft.com/office/powerpoint/2010/main" val="1101795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728-A75D-0744-AEB7-026D2DE7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Python scripts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998F27-2FE8-8543-9493-E28B9FE3E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038347" cy="76767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You can easily convert a Python module into a script: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9FE046-5B50-B240-86F3-3DB3BE31486B}"/>
              </a:ext>
            </a:extLst>
          </p:cNvPr>
          <p:cNvSpPr/>
          <p:nvPr/>
        </p:nvSpPr>
        <p:spPr>
          <a:xfrm>
            <a:off x="1099278" y="2902439"/>
            <a:ext cx="6096000" cy="27245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GB" i="1" dirty="0">
                <a:solidFill>
                  <a:srgbClr val="A0A1A7"/>
                </a:solidFill>
                <a:latin typeface="Menlo" panose="020B0609030804020204" pitchFamily="49" charset="0"/>
              </a:rPr>
              <a:t>#!/</a:t>
            </a:r>
            <a:r>
              <a:rPr lang="en-GB" i="1" dirty="0" err="1">
                <a:solidFill>
                  <a:srgbClr val="A0A1A7"/>
                </a:solidFill>
                <a:latin typeface="Menlo" panose="020B0609030804020204" pitchFamily="49" charset="0"/>
              </a:rPr>
              <a:t>usr</a:t>
            </a:r>
            <a:r>
              <a:rPr lang="en-GB" i="1" dirty="0">
                <a:solidFill>
                  <a:srgbClr val="A0A1A7"/>
                </a:solidFill>
                <a:latin typeface="Menlo" panose="020B0609030804020204" pitchFamily="49" charset="0"/>
              </a:rPr>
              <a:t>/bin/env python</a:t>
            </a:r>
            <a:endParaRPr lang="en-GB" dirty="0">
              <a:solidFill>
                <a:srgbClr val="383A42"/>
              </a:solidFill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b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</a:br>
            <a:r>
              <a:rPr lang="en-GB" dirty="0">
                <a:solidFill>
                  <a:srgbClr val="A626A4"/>
                </a:solidFill>
                <a:latin typeface="Menlo" panose="020B0609030804020204" pitchFamily="49" charset="0"/>
              </a:rPr>
              <a:t>def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4078F2"/>
                </a:solidFill>
                <a:latin typeface="Menlo" panose="020B0609030804020204" pitchFamily="49" charset="0"/>
              </a:rPr>
              <a:t>main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():</a:t>
            </a:r>
          </a:p>
          <a:p>
            <a:pPr>
              <a:lnSpc>
                <a:spcPct val="120000"/>
              </a:lnSpc>
            </a:pP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    ...</a:t>
            </a:r>
          </a:p>
          <a:p>
            <a:pPr>
              <a:lnSpc>
                <a:spcPct val="120000"/>
              </a:lnSpc>
            </a:pPr>
            <a:b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</a:br>
            <a:b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</a:br>
            <a:r>
              <a:rPr lang="en-GB" dirty="0">
                <a:solidFill>
                  <a:srgbClr val="A626A4"/>
                </a:solidFill>
                <a:latin typeface="Menlo" panose="020B0609030804020204" pitchFamily="49" charset="0"/>
              </a:rPr>
              <a:t>if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E45649"/>
                </a:solidFill>
                <a:latin typeface="Menlo" panose="020B0609030804020204" pitchFamily="49" charset="0"/>
              </a:rPr>
              <a:t>__name__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 == </a:t>
            </a:r>
            <a:r>
              <a:rPr lang="en-GB" dirty="0">
                <a:solidFill>
                  <a:srgbClr val="50A14F"/>
                </a:solidFill>
                <a:latin typeface="Menlo" panose="020B0609030804020204" pitchFamily="49" charset="0"/>
              </a:rPr>
              <a:t>"__main__"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    main()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3B65FB-6ACB-1149-983E-289802B6DBDF}"/>
              </a:ext>
            </a:extLst>
          </p:cNvPr>
          <p:cNvSpPr/>
          <p:nvPr/>
        </p:nvSpPr>
        <p:spPr>
          <a:xfrm>
            <a:off x="6809513" y="2870055"/>
            <a:ext cx="38765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/>
              <a:t>Tells the loader to use Python</a:t>
            </a:r>
            <a:endParaRPr lang="en-NL" sz="2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0642E9C-5577-B942-BD46-0251ADDB0188}"/>
              </a:ext>
            </a:extLst>
          </p:cNvPr>
          <p:cNvCxnSpPr>
            <a:cxnSpLocks/>
          </p:cNvCxnSpPr>
          <p:nvPr/>
        </p:nvCxnSpPr>
        <p:spPr>
          <a:xfrm flipH="1">
            <a:off x="5381468" y="3100888"/>
            <a:ext cx="119921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4954730-C5D9-5541-81A0-5B9F65263030}"/>
              </a:ext>
            </a:extLst>
          </p:cNvPr>
          <p:cNvSpPr/>
          <p:nvPr/>
        </p:nvSpPr>
        <p:spPr>
          <a:xfrm>
            <a:off x="6809513" y="4641393"/>
            <a:ext cx="509158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/>
              <a:t>Tells Python to execute the main </a:t>
            </a:r>
            <a:br>
              <a:rPr lang="en-GB" sz="2400" dirty="0"/>
            </a:br>
            <a:r>
              <a:rPr lang="en-GB" sz="2400" dirty="0"/>
              <a:t>function when file is executed as script.</a:t>
            </a:r>
            <a:endParaRPr lang="en-NL" sz="2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76C66DF-C81A-B74B-9B66-F97E741F3AD4}"/>
              </a:ext>
            </a:extLst>
          </p:cNvPr>
          <p:cNvCxnSpPr>
            <a:cxnSpLocks/>
          </p:cNvCxnSpPr>
          <p:nvPr/>
        </p:nvCxnSpPr>
        <p:spPr>
          <a:xfrm flipH="1">
            <a:off x="5381468" y="5052109"/>
            <a:ext cx="119921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142C01-D8AC-6545-A330-C50FA7B29D21}"/>
              </a:ext>
            </a:extLst>
          </p:cNvPr>
          <p:cNvCxnSpPr>
            <a:cxnSpLocks/>
          </p:cNvCxnSpPr>
          <p:nvPr/>
        </p:nvCxnSpPr>
        <p:spPr>
          <a:xfrm flipH="1">
            <a:off x="5381468" y="4035277"/>
            <a:ext cx="119921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3C20059-4589-C242-9069-C3C55C5197C6}"/>
              </a:ext>
            </a:extLst>
          </p:cNvPr>
          <p:cNvSpPr/>
          <p:nvPr/>
        </p:nvSpPr>
        <p:spPr>
          <a:xfrm>
            <a:off x="6809513" y="3794325"/>
            <a:ext cx="45037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/>
              <a:t>Our function that will do the work.</a:t>
            </a:r>
            <a:endParaRPr lang="en-NL" sz="2400" dirty="0"/>
          </a:p>
        </p:txBody>
      </p:sp>
    </p:spTree>
    <p:extLst>
      <p:ext uri="{BB962C8B-B14F-4D97-AF65-F5344CB8AC3E}">
        <p14:creationId xmlns:p14="http://schemas.microsoft.com/office/powerpoint/2010/main" val="2480379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4081C-0F00-774A-B673-FCC4D3F49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/>
              <a:t>Using the command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E74C8-A7AB-EE47-8858-3D5F0CCA2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  <a:p>
            <a:endParaRPr lang="en-NL" dirty="0"/>
          </a:p>
        </p:txBody>
      </p:sp>
      <p:pic>
        <p:nvPicPr>
          <p:cNvPr id="5" name="Picture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3BF51944-AF09-A84D-B484-C7B7A7AD1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977" y="1690688"/>
            <a:ext cx="7330694" cy="422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304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728-A75D-0744-AEB7-026D2DE7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Argument parsing - </a:t>
            </a:r>
            <a:r>
              <a:rPr lang="en-US" b="0" dirty="0" err="1"/>
              <a:t>Argparse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998F27-2FE8-8543-9493-E28B9FE3E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038347" cy="409549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For many applications, you will need to parse some </a:t>
            </a:r>
            <a:br>
              <a:rPr lang="en-US" dirty="0"/>
            </a:br>
            <a:r>
              <a:rPr lang="en-US" dirty="0"/>
              <a:t>kind of arguments passed by the user 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Python provides a built-in library for this called </a:t>
            </a:r>
            <a:r>
              <a:rPr lang="en-US" dirty="0" err="1"/>
              <a:t>argparse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/>
              <a:t>Allows you to define a ’parser’ with some specific arguments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Parses passed user arguments and prints help messages</a:t>
            </a:r>
          </a:p>
        </p:txBody>
      </p:sp>
    </p:spTree>
    <p:extLst>
      <p:ext uri="{BB962C8B-B14F-4D97-AF65-F5344CB8AC3E}">
        <p14:creationId xmlns:p14="http://schemas.microsoft.com/office/powerpoint/2010/main" val="718378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728-A75D-0744-AEB7-026D2DE7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Argument parsing - </a:t>
            </a:r>
            <a:r>
              <a:rPr lang="en-US" b="0" dirty="0" err="1"/>
              <a:t>Argparse</a:t>
            </a:r>
            <a:endParaRPr lang="en-US" b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91F77-31DC-0F4A-B69B-7DD89C54FF21}"/>
              </a:ext>
            </a:extLst>
          </p:cNvPr>
          <p:cNvSpPr/>
          <p:nvPr/>
        </p:nvSpPr>
        <p:spPr>
          <a:xfrm>
            <a:off x="838200" y="1555776"/>
            <a:ext cx="10074639" cy="5051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dirty="0">
                <a:solidFill>
                  <a:srgbClr val="A626A4"/>
                </a:solidFill>
                <a:latin typeface="Menlo" panose="020B0609030804020204" pitchFamily="49" charset="0"/>
              </a:rPr>
              <a:t>import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383A42"/>
                </a:solidFill>
                <a:latin typeface="Menlo" panose="020B0609030804020204" pitchFamily="49" charset="0"/>
              </a:rPr>
              <a:t>argparse</a:t>
            </a:r>
            <a:endParaRPr lang="en-GB" dirty="0">
              <a:solidFill>
                <a:srgbClr val="383A42"/>
              </a:solidFill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b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</a:br>
            <a:r>
              <a:rPr lang="en-GB" dirty="0">
                <a:solidFill>
                  <a:srgbClr val="A626A4"/>
                </a:solidFill>
                <a:latin typeface="Menlo" panose="020B0609030804020204" pitchFamily="49" charset="0"/>
              </a:rPr>
              <a:t>def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4078F2"/>
                </a:solidFill>
                <a:latin typeface="Menlo" panose="020B0609030804020204" pitchFamily="49" charset="0"/>
              </a:rPr>
              <a:t>parse_args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():</a:t>
            </a:r>
          </a:p>
          <a:p>
            <a:pPr>
              <a:lnSpc>
                <a:spcPct val="120000"/>
              </a:lnSpc>
            </a:pP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    parser = </a:t>
            </a:r>
            <a:r>
              <a:rPr lang="en-GB" dirty="0" err="1">
                <a:solidFill>
                  <a:srgbClr val="383A42"/>
                </a:solidFill>
                <a:latin typeface="Menlo" panose="020B0609030804020204" pitchFamily="49" charset="0"/>
              </a:rPr>
              <a:t>argparse.ArgumentParser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()</a:t>
            </a:r>
          </a:p>
          <a:p>
            <a:pPr>
              <a:lnSpc>
                <a:spcPct val="120000"/>
              </a:lnSpc>
            </a:pP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    </a:t>
            </a:r>
            <a:r>
              <a:rPr lang="en-GB" dirty="0" err="1">
                <a:solidFill>
                  <a:srgbClr val="383A42"/>
                </a:solidFill>
                <a:latin typeface="Menlo" panose="020B0609030804020204" pitchFamily="49" charset="0"/>
              </a:rPr>
              <a:t>parser.add_argument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(</a:t>
            </a:r>
            <a:r>
              <a:rPr lang="en-GB" dirty="0">
                <a:solidFill>
                  <a:srgbClr val="50A14F"/>
                </a:solidFill>
                <a:latin typeface="Menlo" panose="020B0609030804020204" pitchFamily="49" charset="0"/>
              </a:rPr>
              <a:t>"</a:t>
            </a:r>
            <a:r>
              <a:rPr lang="en-GB" dirty="0" err="1">
                <a:solidFill>
                  <a:srgbClr val="50A14F"/>
                </a:solidFill>
                <a:latin typeface="Menlo" panose="020B0609030804020204" pitchFamily="49" charset="0"/>
              </a:rPr>
              <a:t>input_file</a:t>
            </a:r>
            <a:r>
              <a:rPr lang="en-GB" dirty="0">
                <a:solidFill>
                  <a:srgbClr val="50A14F"/>
                </a:solidFill>
                <a:latin typeface="Menlo" panose="020B0609030804020204" pitchFamily="49" charset="0"/>
              </a:rPr>
              <a:t>"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    </a:t>
            </a:r>
            <a:r>
              <a:rPr lang="en-GB" dirty="0" err="1">
                <a:solidFill>
                  <a:srgbClr val="383A42"/>
                </a:solidFill>
                <a:latin typeface="Menlo" panose="020B0609030804020204" pitchFamily="49" charset="0"/>
              </a:rPr>
              <a:t>parser.add_argument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(</a:t>
            </a:r>
            <a:r>
              <a:rPr lang="en-GB" dirty="0">
                <a:solidFill>
                  <a:srgbClr val="50A14F"/>
                </a:solidFill>
                <a:latin typeface="Menlo" panose="020B0609030804020204" pitchFamily="49" charset="0"/>
              </a:rPr>
              <a:t>"</a:t>
            </a:r>
            <a:r>
              <a:rPr lang="en-GB" dirty="0" err="1">
                <a:solidFill>
                  <a:srgbClr val="50A14F"/>
                </a:solidFill>
                <a:latin typeface="Menlo" panose="020B0609030804020204" pitchFamily="49" charset="0"/>
              </a:rPr>
              <a:t>output_file</a:t>
            </a:r>
            <a:r>
              <a:rPr lang="en-GB" dirty="0">
                <a:solidFill>
                  <a:srgbClr val="50A14F"/>
                </a:solidFill>
                <a:latin typeface="Menlo" panose="020B0609030804020204" pitchFamily="49" charset="0"/>
              </a:rPr>
              <a:t>"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    </a:t>
            </a:r>
            <a:r>
              <a:rPr lang="en-GB" dirty="0" err="1">
                <a:solidFill>
                  <a:srgbClr val="383A42"/>
                </a:solidFill>
                <a:latin typeface="Menlo" panose="020B0609030804020204" pitchFamily="49" charset="0"/>
              </a:rPr>
              <a:t>parser.add_argument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(</a:t>
            </a:r>
            <a:b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</a:b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        </a:t>
            </a:r>
            <a:r>
              <a:rPr lang="en-GB" dirty="0">
                <a:solidFill>
                  <a:srgbClr val="50A14F"/>
                </a:solidFill>
                <a:latin typeface="Menlo" panose="020B0609030804020204" pitchFamily="49" charset="0"/>
              </a:rPr>
              <a:t>"--</a:t>
            </a:r>
            <a:r>
              <a:rPr lang="en-GB" dirty="0" err="1">
                <a:solidFill>
                  <a:srgbClr val="50A14F"/>
                </a:solidFill>
                <a:latin typeface="Menlo" panose="020B0609030804020204" pitchFamily="49" charset="0"/>
              </a:rPr>
              <a:t>my_option</a:t>
            </a:r>
            <a:r>
              <a:rPr lang="en-GB" dirty="0">
                <a:solidFill>
                  <a:srgbClr val="50A14F"/>
                </a:solidFill>
                <a:latin typeface="Menlo" panose="020B0609030804020204" pitchFamily="49" charset="0"/>
              </a:rPr>
              <a:t>"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, </a:t>
            </a:r>
            <a:r>
              <a:rPr lang="en-GB" dirty="0">
                <a:solidFill>
                  <a:srgbClr val="986801"/>
                </a:solidFill>
                <a:latin typeface="Menlo" panose="020B0609030804020204" pitchFamily="49" charset="0"/>
              </a:rPr>
              <a:t>default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=</a:t>
            </a:r>
            <a:r>
              <a:rPr lang="en-GB" dirty="0">
                <a:solidFill>
                  <a:srgbClr val="986801"/>
                </a:solidFill>
                <a:latin typeface="Menlo" panose="020B0609030804020204" pitchFamily="49" charset="0"/>
              </a:rPr>
              <a:t>2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, </a:t>
            </a:r>
            <a:b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</a:b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        </a:t>
            </a:r>
            <a:r>
              <a:rPr lang="en-GB" dirty="0">
                <a:solidFill>
                  <a:srgbClr val="986801"/>
                </a:solidFill>
                <a:latin typeface="Menlo" panose="020B0609030804020204" pitchFamily="49" charset="0"/>
              </a:rPr>
              <a:t>help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=</a:t>
            </a:r>
            <a:r>
              <a:rPr lang="en-GB" dirty="0">
                <a:solidFill>
                  <a:srgbClr val="50A14F"/>
                </a:solidFill>
                <a:latin typeface="Menlo" panose="020B0609030804020204" pitchFamily="49" charset="0"/>
              </a:rPr>
              <a:t>"Some optional value"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, </a:t>
            </a:r>
            <a:r>
              <a:rPr lang="en-GB" dirty="0">
                <a:solidFill>
                  <a:srgbClr val="986801"/>
                </a:solidFill>
                <a:latin typeface="Menlo" panose="020B0609030804020204" pitchFamily="49" charset="0"/>
              </a:rPr>
              <a:t>type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=</a:t>
            </a:r>
            <a:r>
              <a:rPr lang="en-GB" dirty="0">
                <a:solidFill>
                  <a:srgbClr val="0184BC"/>
                </a:solidFill>
                <a:latin typeface="Menlo" panose="020B0609030804020204" pitchFamily="49" charset="0"/>
              </a:rPr>
              <a:t>int</a:t>
            </a:r>
            <a:br>
              <a:rPr lang="en-GB" dirty="0">
                <a:solidFill>
                  <a:srgbClr val="0184BC"/>
                </a:solidFill>
                <a:latin typeface="Menlo" panose="020B0609030804020204" pitchFamily="49" charset="0"/>
              </a:rPr>
            </a:br>
            <a:r>
              <a:rPr lang="en-GB" dirty="0">
                <a:solidFill>
                  <a:srgbClr val="0184BC"/>
                </a:solidFill>
                <a:latin typeface="Menlo" panose="020B0609030804020204" pitchFamily="49" charset="0"/>
              </a:rPr>
              <a:t>    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GB" dirty="0">
                <a:solidFill>
                  <a:srgbClr val="A626A4"/>
                </a:solidFill>
                <a:latin typeface="Menlo" panose="020B0609030804020204" pitchFamily="49" charset="0"/>
              </a:rPr>
              <a:t>    return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383A42"/>
                </a:solidFill>
                <a:latin typeface="Menlo" panose="020B0609030804020204" pitchFamily="49" charset="0"/>
              </a:rPr>
              <a:t>parser.parse_args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()</a:t>
            </a:r>
          </a:p>
          <a:p>
            <a:pPr>
              <a:lnSpc>
                <a:spcPct val="120000"/>
              </a:lnSpc>
            </a:pPr>
            <a:b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</a:br>
            <a:r>
              <a:rPr lang="en-GB" dirty="0">
                <a:solidFill>
                  <a:srgbClr val="A626A4"/>
                </a:solidFill>
                <a:latin typeface="Menlo" panose="020B0609030804020204" pitchFamily="49" charset="0"/>
              </a:rPr>
              <a:t>def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4078F2"/>
                </a:solidFill>
                <a:latin typeface="Menlo" panose="020B0609030804020204" pitchFamily="49" charset="0"/>
              </a:rPr>
              <a:t>main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():</a:t>
            </a:r>
          </a:p>
          <a:p>
            <a:pPr>
              <a:lnSpc>
                <a:spcPct val="120000"/>
              </a:lnSpc>
            </a:pP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    </a:t>
            </a:r>
            <a:r>
              <a:rPr lang="en-GB" dirty="0" err="1">
                <a:solidFill>
                  <a:srgbClr val="383A42"/>
                </a:solidFill>
                <a:latin typeface="Menlo" panose="020B0609030804020204" pitchFamily="49" charset="0"/>
              </a:rPr>
              <a:t>args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 = </a:t>
            </a:r>
            <a:r>
              <a:rPr lang="en-GB" dirty="0" err="1">
                <a:solidFill>
                  <a:srgbClr val="383A42"/>
                </a:solidFill>
                <a:latin typeface="Menlo" panose="020B0609030804020204" pitchFamily="49" charset="0"/>
              </a:rPr>
              <a:t>parse_args</a:t>
            </a: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()</a:t>
            </a:r>
          </a:p>
          <a:p>
            <a:pPr>
              <a:lnSpc>
                <a:spcPct val="120000"/>
              </a:lnSpc>
            </a:pPr>
            <a:r>
              <a:rPr lang="en-GB" dirty="0">
                <a:solidFill>
                  <a:srgbClr val="383A42"/>
                </a:solidFill>
                <a:latin typeface="Menlo" panose="020B0609030804020204" pitchFamily="49" charset="0"/>
              </a:rPr>
              <a:t>    ...</a:t>
            </a:r>
            <a:endParaRPr lang="en-GB" b="0" dirty="0">
              <a:solidFill>
                <a:srgbClr val="383A42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350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728-A75D-0744-AEB7-026D2DE7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Usage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587A3C-6C48-D44E-9044-ACE41C9E367D}"/>
              </a:ext>
            </a:extLst>
          </p:cNvPr>
          <p:cNvSpPr/>
          <p:nvPr/>
        </p:nvSpPr>
        <p:spPr>
          <a:xfrm>
            <a:off x="838200" y="1988399"/>
            <a:ext cx="911003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NL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 python my_script.py --help</a:t>
            </a:r>
          </a:p>
          <a:p>
            <a:r>
              <a:rPr lang="en-NL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Usage: my_script.py [OPTIONS] INPUT_FILE OUTPUT_FILE</a:t>
            </a:r>
          </a:p>
          <a:p>
            <a:endParaRPr lang="en-NL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NL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My CLI application.</a:t>
            </a:r>
          </a:p>
          <a:p>
            <a:endParaRPr lang="en-NL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NL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Options:</a:t>
            </a:r>
          </a:p>
          <a:p>
            <a:r>
              <a:rPr lang="en-NL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--my_option INTEGER  Some optional value</a:t>
            </a:r>
          </a:p>
          <a:p>
            <a:r>
              <a:rPr lang="en-NL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--help               Show this message and exit.</a:t>
            </a:r>
          </a:p>
        </p:txBody>
      </p:sp>
    </p:spTree>
    <p:extLst>
      <p:ext uri="{BB962C8B-B14F-4D97-AF65-F5344CB8AC3E}">
        <p14:creationId xmlns:p14="http://schemas.microsoft.com/office/powerpoint/2010/main" val="3357593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68C05-D95E-1E4B-86C4-C55494AED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360"/>
            <a:ext cx="10515600" cy="1325563"/>
          </a:xfrm>
        </p:spPr>
        <p:txBody>
          <a:bodyPr/>
          <a:lstStyle/>
          <a:p>
            <a:r>
              <a:rPr lang="en-NL" dirty="0">
                <a:solidFill>
                  <a:schemeClr val="bg1"/>
                </a:solidFill>
              </a:rPr>
              <a:t>Default Values/Action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ED95B9-45EA-7A4E-A14A-28BD6F091028}"/>
              </a:ext>
            </a:extLst>
          </p:cNvPr>
          <p:cNvSpPr/>
          <p:nvPr/>
        </p:nvSpPr>
        <p:spPr>
          <a:xfrm>
            <a:off x="976828" y="1144739"/>
            <a:ext cx="990783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CC7832"/>
                </a:solidFill>
              </a:rPr>
              <a:t>def </a:t>
            </a:r>
            <a:r>
              <a:rPr lang="en-GB" sz="2400" dirty="0" err="1">
                <a:solidFill>
                  <a:srgbClr val="FFC66D"/>
                </a:solidFill>
              </a:rPr>
              <a:t>parse_args</a:t>
            </a:r>
            <a:r>
              <a:rPr lang="en-GB" sz="2400" dirty="0"/>
              <a:t>():</a:t>
            </a:r>
            <a:br>
              <a:rPr lang="en-GB" sz="2400" dirty="0"/>
            </a:br>
            <a:r>
              <a:rPr lang="en-GB" sz="2400" dirty="0"/>
              <a:t>    </a:t>
            </a:r>
            <a:r>
              <a:rPr lang="en-GB" sz="2400" dirty="0">
                <a:solidFill>
                  <a:schemeClr val="bg1"/>
                </a:solidFill>
              </a:rPr>
              <a:t>parser = </a:t>
            </a:r>
            <a:r>
              <a:rPr lang="en-GB" sz="2400" dirty="0" err="1">
                <a:solidFill>
                  <a:schemeClr val="bg1"/>
                </a:solidFill>
              </a:rPr>
              <a:t>argparse.ArgumentParser</a:t>
            </a:r>
            <a:r>
              <a:rPr lang="en-GB" sz="2400" dirty="0">
                <a:solidFill>
                  <a:schemeClr val="bg1"/>
                </a:solidFill>
              </a:rPr>
              <a:t>()</a:t>
            </a:r>
            <a:br>
              <a:rPr lang="en-GB" sz="2400" dirty="0">
                <a:solidFill>
                  <a:schemeClr val="bg1"/>
                </a:solidFill>
              </a:rPr>
            </a:br>
            <a:r>
              <a:rPr lang="en-GB" sz="2400" dirty="0">
                <a:solidFill>
                  <a:schemeClr val="bg1"/>
                </a:solidFill>
              </a:rPr>
              <a:t>    </a:t>
            </a:r>
            <a:r>
              <a:rPr lang="en-GB" sz="2400" dirty="0" err="1">
                <a:solidFill>
                  <a:schemeClr val="bg1"/>
                </a:solidFill>
              </a:rPr>
              <a:t>parser.add_argument</a:t>
            </a:r>
            <a:r>
              <a:rPr lang="en-GB" sz="2400" dirty="0">
                <a:solidFill>
                  <a:schemeClr val="bg1"/>
                </a:solidFill>
              </a:rPr>
              <a:t>("--</a:t>
            </a:r>
            <a:r>
              <a:rPr lang="en-GB" sz="2400" dirty="0" err="1">
                <a:solidFill>
                  <a:srgbClr val="6A8759"/>
                </a:solidFill>
              </a:rPr>
              <a:t>input_file</a:t>
            </a:r>
            <a:r>
              <a:rPr lang="en-GB" sz="2400" dirty="0">
                <a:solidFill>
                  <a:srgbClr val="6A8759"/>
                </a:solidFill>
              </a:rPr>
              <a:t>"</a:t>
            </a:r>
            <a:r>
              <a:rPr lang="en-GB" sz="2400" dirty="0">
                <a:solidFill>
                  <a:srgbClr val="CC7832"/>
                </a:solidFill>
              </a:rPr>
              <a:t>, </a:t>
            </a:r>
            <a:br>
              <a:rPr lang="en-GB" sz="2400" dirty="0">
                <a:solidFill>
                  <a:srgbClr val="CC7832"/>
                </a:solidFill>
              </a:rPr>
            </a:br>
            <a:r>
              <a:rPr lang="en-GB" sz="2400" dirty="0">
                <a:solidFill>
                  <a:srgbClr val="CC7832"/>
                </a:solidFill>
              </a:rPr>
              <a:t>        </a:t>
            </a:r>
            <a:r>
              <a:rPr lang="en-GB" sz="2400" dirty="0">
                <a:solidFill>
                  <a:srgbClr val="AA4926"/>
                </a:solidFill>
              </a:rPr>
              <a:t>default</a:t>
            </a:r>
            <a:r>
              <a:rPr lang="en-GB" sz="2400" dirty="0">
                <a:solidFill>
                  <a:schemeClr val="bg1"/>
                </a:solidFill>
              </a:rPr>
              <a:t>=</a:t>
            </a:r>
            <a:r>
              <a:rPr lang="en-GB" sz="2400" dirty="0">
                <a:solidFill>
                  <a:srgbClr val="6A8759"/>
                </a:solidFill>
              </a:rPr>
              <a:t>"3-data/</a:t>
            </a:r>
            <a:r>
              <a:rPr lang="en-GB" sz="2400" dirty="0" err="1">
                <a:solidFill>
                  <a:srgbClr val="6A8759"/>
                </a:solidFill>
              </a:rPr>
              <a:t>frankenstein.txt</a:t>
            </a:r>
            <a:r>
              <a:rPr lang="en-GB" sz="2400" dirty="0">
                <a:solidFill>
                  <a:srgbClr val="6A8759"/>
                </a:solidFill>
              </a:rPr>
              <a:t>"</a:t>
            </a:r>
            <a:r>
              <a:rPr lang="en-GB" sz="2400" dirty="0">
                <a:solidFill>
                  <a:srgbClr val="CC7832"/>
                </a:solidFill>
              </a:rPr>
              <a:t>,</a:t>
            </a:r>
            <a:br>
              <a:rPr lang="en-GB" sz="2400" dirty="0">
                <a:solidFill>
                  <a:srgbClr val="CC7832"/>
                </a:solidFill>
              </a:rPr>
            </a:br>
            <a:r>
              <a:rPr lang="en-GB" sz="2400" dirty="0">
                <a:solidFill>
                  <a:srgbClr val="CC7832"/>
                </a:solidFill>
              </a:rPr>
              <a:t>        </a:t>
            </a:r>
            <a:r>
              <a:rPr lang="en-GB" sz="2400" dirty="0">
                <a:solidFill>
                  <a:srgbClr val="AA4926"/>
                </a:solidFill>
              </a:rPr>
              <a:t>help</a:t>
            </a:r>
            <a:r>
              <a:rPr lang="en-GB" sz="2400" dirty="0">
                <a:solidFill>
                  <a:schemeClr val="bg1"/>
                </a:solidFill>
              </a:rPr>
              <a:t>=</a:t>
            </a:r>
            <a:r>
              <a:rPr lang="en-GB" sz="2400" dirty="0">
                <a:solidFill>
                  <a:srgbClr val="6A8759"/>
                </a:solidFill>
              </a:rPr>
              <a:t>"Input the file you would like to work with."</a:t>
            </a:r>
            <a:r>
              <a:rPr lang="en-GB" sz="2400" dirty="0">
                <a:solidFill>
                  <a:srgbClr val="CC7832"/>
                </a:solidFill>
              </a:rPr>
              <a:t>, </a:t>
            </a:r>
            <a:br>
              <a:rPr lang="en-GB" sz="2400" dirty="0">
                <a:solidFill>
                  <a:srgbClr val="CC7832"/>
                </a:solidFill>
              </a:rPr>
            </a:br>
            <a:r>
              <a:rPr lang="en-GB" sz="2400" dirty="0">
                <a:solidFill>
                  <a:srgbClr val="CC7832"/>
                </a:solidFill>
              </a:rPr>
              <a:t>        </a:t>
            </a:r>
            <a:r>
              <a:rPr lang="en-GB" sz="2400" dirty="0">
                <a:solidFill>
                  <a:srgbClr val="AA4926"/>
                </a:solidFill>
              </a:rPr>
              <a:t>type</a:t>
            </a:r>
            <a:r>
              <a:rPr lang="en-GB" sz="2400" dirty="0">
                <a:solidFill>
                  <a:schemeClr val="bg1"/>
                </a:solidFill>
              </a:rPr>
              <a:t>=</a:t>
            </a:r>
            <a:r>
              <a:rPr lang="en-GB" sz="2400" dirty="0">
                <a:solidFill>
                  <a:srgbClr val="8888C6"/>
                </a:solidFill>
              </a:rPr>
              <a:t>str</a:t>
            </a:r>
            <a:r>
              <a:rPr lang="en-GB" sz="2400" dirty="0"/>
              <a:t>)</a:t>
            </a:r>
            <a:br>
              <a:rPr lang="en-GB" sz="2400" dirty="0"/>
            </a:br>
            <a:r>
              <a:rPr lang="en-GB" sz="2400" dirty="0"/>
              <a:t>    </a:t>
            </a:r>
            <a:r>
              <a:rPr lang="en-GB" sz="2400" dirty="0" err="1">
                <a:solidFill>
                  <a:schemeClr val="bg1"/>
                </a:solidFill>
              </a:rPr>
              <a:t>parser.add_argument</a:t>
            </a:r>
            <a:r>
              <a:rPr lang="en-GB" sz="2400" dirty="0"/>
              <a:t>(</a:t>
            </a:r>
            <a:r>
              <a:rPr lang="en-GB" sz="2400" dirty="0">
                <a:solidFill>
                  <a:srgbClr val="6A8759"/>
                </a:solidFill>
              </a:rPr>
              <a:t>"--</a:t>
            </a:r>
            <a:r>
              <a:rPr lang="en-GB" sz="2400" dirty="0" err="1">
                <a:solidFill>
                  <a:srgbClr val="6A8759"/>
                </a:solidFill>
              </a:rPr>
              <a:t>most_common_words</a:t>
            </a:r>
            <a:r>
              <a:rPr lang="en-GB" sz="2400" dirty="0">
                <a:solidFill>
                  <a:srgbClr val="6A8759"/>
                </a:solidFill>
              </a:rPr>
              <a:t>"</a:t>
            </a:r>
            <a:r>
              <a:rPr lang="en-GB" sz="2400" dirty="0">
                <a:solidFill>
                  <a:srgbClr val="CC7832"/>
                </a:solidFill>
              </a:rPr>
              <a:t>, </a:t>
            </a:r>
            <a:br>
              <a:rPr lang="en-GB" sz="2400" dirty="0">
                <a:solidFill>
                  <a:srgbClr val="CC7832"/>
                </a:solidFill>
              </a:rPr>
            </a:br>
            <a:r>
              <a:rPr lang="en-GB" sz="2400" dirty="0">
                <a:solidFill>
                  <a:srgbClr val="CC7832"/>
                </a:solidFill>
              </a:rPr>
              <a:t>        </a:t>
            </a:r>
            <a:r>
              <a:rPr lang="en-GB" sz="2400" dirty="0">
                <a:solidFill>
                  <a:srgbClr val="AA4926"/>
                </a:solidFill>
              </a:rPr>
              <a:t>default</a:t>
            </a:r>
            <a:r>
              <a:rPr lang="en-GB" sz="2400" dirty="0">
                <a:solidFill>
                  <a:schemeClr val="bg1"/>
                </a:solidFill>
              </a:rPr>
              <a:t>=</a:t>
            </a:r>
            <a:r>
              <a:rPr lang="en-GB" sz="2400" dirty="0">
                <a:solidFill>
                  <a:srgbClr val="CC7832"/>
                </a:solidFill>
              </a:rPr>
              <a:t>None,</a:t>
            </a:r>
            <a:br>
              <a:rPr lang="en-GB" sz="2400" dirty="0">
                <a:solidFill>
                  <a:srgbClr val="CC7832"/>
                </a:solidFill>
              </a:rPr>
            </a:br>
            <a:r>
              <a:rPr lang="en-GB" sz="2400" dirty="0">
                <a:solidFill>
                  <a:srgbClr val="CC7832"/>
                </a:solidFill>
              </a:rPr>
              <a:t>        </a:t>
            </a:r>
            <a:r>
              <a:rPr lang="en-GB" sz="2400" dirty="0">
                <a:solidFill>
                  <a:srgbClr val="AA4926"/>
                </a:solidFill>
              </a:rPr>
              <a:t>help</a:t>
            </a:r>
            <a:r>
              <a:rPr lang="en-GB" sz="2400" dirty="0">
                <a:solidFill>
                  <a:schemeClr val="bg1"/>
                </a:solidFill>
              </a:rPr>
              <a:t>=</a:t>
            </a:r>
            <a:r>
              <a:rPr lang="en-GB" sz="2400" dirty="0">
                <a:solidFill>
                  <a:srgbClr val="6A8759"/>
                </a:solidFill>
              </a:rPr>
              <a:t>"Return the most common words in the file."</a:t>
            </a:r>
            <a:r>
              <a:rPr lang="en-GB" sz="2400" dirty="0">
                <a:solidFill>
                  <a:srgbClr val="CC7832"/>
                </a:solidFill>
              </a:rPr>
              <a:t>, </a:t>
            </a:r>
            <a:br>
              <a:rPr lang="en-GB" sz="2400" dirty="0">
                <a:solidFill>
                  <a:srgbClr val="CC7832"/>
                </a:solidFill>
              </a:rPr>
            </a:br>
            <a:r>
              <a:rPr lang="en-GB" sz="2400" dirty="0">
                <a:solidFill>
                  <a:srgbClr val="CC7832"/>
                </a:solidFill>
              </a:rPr>
              <a:t>        </a:t>
            </a:r>
            <a:r>
              <a:rPr lang="en-GB" sz="2400" dirty="0">
                <a:solidFill>
                  <a:srgbClr val="AA4926"/>
                </a:solidFill>
              </a:rPr>
              <a:t>type</a:t>
            </a:r>
            <a:r>
              <a:rPr lang="en-GB" sz="2400" dirty="0">
                <a:solidFill>
                  <a:schemeClr val="bg1"/>
                </a:solidFill>
              </a:rPr>
              <a:t>=</a:t>
            </a:r>
            <a:r>
              <a:rPr lang="en-GB" sz="2400" dirty="0">
                <a:solidFill>
                  <a:srgbClr val="8888C6"/>
                </a:solidFill>
              </a:rPr>
              <a:t>int</a:t>
            </a:r>
            <a:r>
              <a:rPr lang="en-GB" sz="2400" dirty="0"/>
              <a:t>)</a:t>
            </a:r>
            <a:br>
              <a:rPr lang="en-GB" sz="2400" dirty="0"/>
            </a:br>
            <a:r>
              <a:rPr lang="en-GB" sz="2400" dirty="0"/>
              <a:t>    </a:t>
            </a:r>
            <a:r>
              <a:rPr lang="en-GB" sz="2400" dirty="0" err="1">
                <a:solidFill>
                  <a:schemeClr val="bg1"/>
                </a:solidFill>
              </a:rPr>
              <a:t>parser.add_argument</a:t>
            </a:r>
            <a:r>
              <a:rPr lang="en-GB" sz="2400" dirty="0"/>
              <a:t>(</a:t>
            </a:r>
            <a:r>
              <a:rPr lang="en-GB" sz="2400" dirty="0">
                <a:solidFill>
                  <a:srgbClr val="6A8759"/>
                </a:solidFill>
              </a:rPr>
              <a:t>"--</a:t>
            </a:r>
            <a:r>
              <a:rPr lang="en-GB" sz="2400" dirty="0" err="1">
                <a:solidFill>
                  <a:srgbClr val="6A8759"/>
                </a:solidFill>
              </a:rPr>
              <a:t>show_first_sentence</a:t>
            </a:r>
            <a:r>
              <a:rPr lang="en-GB" sz="2400" dirty="0">
                <a:solidFill>
                  <a:srgbClr val="6A8759"/>
                </a:solidFill>
              </a:rPr>
              <a:t>"</a:t>
            </a:r>
            <a:r>
              <a:rPr lang="en-GB" sz="2400" dirty="0">
                <a:solidFill>
                  <a:srgbClr val="CC7832"/>
                </a:solidFill>
              </a:rPr>
              <a:t>, </a:t>
            </a:r>
            <a:br>
              <a:rPr lang="en-GB" sz="2400" dirty="0">
                <a:solidFill>
                  <a:srgbClr val="CC7832"/>
                </a:solidFill>
              </a:rPr>
            </a:br>
            <a:r>
              <a:rPr lang="en-GB" sz="2400" dirty="0">
                <a:solidFill>
                  <a:srgbClr val="CC7832"/>
                </a:solidFill>
              </a:rPr>
              <a:t>        </a:t>
            </a:r>
            <a:r>
              <a:rPr lang="en-GB" sz="2400" dirty="0">
                <a:solidFill>
                  <a:srgbClr val="AA4926"/>
                </a:solidFill>
              </a:rPr>
              <a:t>action</a:t>
            </a:r>
            <a:r>
              <a:rPr lang="en-GB" sz="2400" dirty="0">
                <a:solidFill>
                  <a:schemeClr val="bg1"/>
                </a:solidFill>
              </a:rPr>
              <a:t>=</a:t>
            </a:r>
            <a:r>
              <a:rPr lang="en-GB" sz="2400" dirty="0">
                <a:solidFill>
                  <a:srgbClr val="6A8759"/>
                </a:solidFill>
              </a:rPr>
              <a:t>"</a:t>
            </a:r>
            <a:r>
              <a:rPr lang="en-GB" sz="2400" dirty="0" err="1">
                <a:solidFill>
                  <a:srgbClr val="6A8759"/>
                </a:solidFill>
              </a:rPr>
              <a:t>store_true</a:t>
            </a:r>
            <a:r>
              <a:rPr lang="en-GB" sz="2400" dirty="0">
                <a:solidFill>
                  <a:srgbClr val="6A8759"/>
                </a:solidFill>
              </a:rPr>
              <a:t>"</a:t>
            </a:r>
            <a:r>
              <a:rPr lang="en-GB" sz="2400" dirty="0">
                <a:solidFill>
                  <a:srgbClr val="CC7832"/>
                </a:solidFill>
              </a:rPr>
              <a:t>,</a:t>
            </a:r>
            <a:br>
              <a:rPr lang="en-GB" sz="2400" dirty="0">
                <a:solidFill>
                  <a:srgbClr val="CC7832"/>
                </a:solidFill>
              </a:rPr>
            </a:br>
            <a:r>
              <a:rPr lang="en-GB" sz="2400" dirty="0">
                <a:solidFill>
                  <a:srgbClr val="CC7832"/>
                </a:solidFill>
              </a:rPr>
              <a:t>        </a:t>
            </a:r>
            <a:r>
              <a:rPr lang="en-GB" sz="2400" dirty="0">
                <a:solidFill>
                  <a:srgbClr val="AA4926"/>
                </a:solidFill>
              </a:rPr>
              <a:t>help</a:t>
            </a:r>
            <a:r>
              <a:rPr lang="en-GB" sz="2400" dirty="0">
                <a:solidFill>
                  <a:schemeClr val="bg1"/>
                </a:solidFill>
              </a:rPr>
              <a:t>=</a:t>
            </a:r>
            <a:r>
              <a:rPr lang="en-GB" sz="2400" dirty="0">
                <a:solidFill>
                  <a:srgbClr val="6A8759"/>
                </a:solidFill>
              </a:rPr>
              <a:t>Whether to show the first sentence of the file."</a:t>
            </a:r>
            <a:r>
              <a:rPr lang="en-GB" sz="2400" dirty="0"/>
              <a:t>)</a:t>
            </a:r>
            <a:br>
              <a:rPr lang="en-GB" sz="2400" dirty="0"/>
            </a:br>
            <a:br>
              <a:rPr lang="en-GB" sz="2400" dirty="0"/>
            </a:br>
            <a:r>
              <a:rPr lang="en-GB" sz="2400" dirty="0"/>
              <a:t>    </a:t>
            </a:r>
            <a:r>
              <a:rPr lang="en-GB" sz="2400" dirty="0">
                <a:solidFill>
                  <a:srgbClr val="CC7832"/>
                </a:solidFill>
              </a:rPr>
              <a:t>return </a:t>
            </a:r>
            <a:r>
              <a:rPr lang="en-GB" sz="2400" dirty="0" err="1">
                <a:solidFill>
                  <a:schemeClr val="bg1"/>
                </a:solidFill>
              </a:rPr>
              <a:t>parser.parse_args</a:t>
            </a:r>
            <a:r>
              <a:rPr lang="en-GB" sz="2400" dirty="0">
                <a:solidFill>
                  <a:schemeClr val="bg1"/>
                </a:solidFill>
              </a:rPr>
              <a:t>()</a:t>
            </a:r>
            <a:endParaRPr lang="en-NL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515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D14B35-2CBD-D245-BC55-9BA3B12BF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07681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E39FBE7F04D548BD29E91DECF7B3B6" ma:contentTypeVersion="13" ma:contentTypeDescription="Create a new document." ma:contentTypeScope="" ma:versionID="b602e1ecca412fe4a8c3bc990c1bc03c">
  <xsd:schema xmlns:xsd="http://www.w3.org/2001/XMLSchema" xmlns:xs="http://www.w3.org/2001/XMLSchema" xmlns:p="http://schemas.microsoft.com/office/2006/metadata/properties" xmlns:ns2="5bd7bfd5-7afe-443c-afc0-875eadc8b11d" xmlns:ns3="26b68be9-fe62-41a5-8ef8-f23c99e4d909" targetNamespace="http://schemas.microsoft.com/office/2006/metadata/properties" ma:root="true" ma:fieldsID="03a0d83c907fa6c17ed887decd22fd5a" ns2:_="" ns3:_="">
    <xsd:import namespace="5bd7bfd5-7afe-443c-afc0-875eadc8b11d"/>
    <xsd:import namespace="26b68be9-fe62-41a5-8ef8-f23c99e4d9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d7bfd5-7afe-443c-afc0-875eadc8b1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b68be9-fe62-41a5-8ef8-f23c99e4d90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CC9B3A-D749-4768-AAD6-C56F7D5E787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3895F18-B575-4ECD-928D-9AE7C9D046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d7bfd5-7afe-443c-afc0-875eadc8b11d"/>
    <ds:schemaRef ds:uri="26b68be9-fe62-41a5-8ef8-f23c99e4d9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39B804-86F0-47F8-B375-E9FBFB976EC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417</Words>
  <Application>Microsoft Macintosh PowerPoint</Application>
  <PresentationFormat>Widescreen</PresentationFormat>
  <Paragraphs>42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Menlo</vt:lpstr>
      <vt:lpstr>Montserrat</vt:lpstr>
      <vt:lpstr>Museo Sans 500</vt:lpstr>
      <vt:lpstr>Office Theme</vt:lpstr>
      <vt:lpstr>Command line scripts</vt:lpstr>
      <vt:lpstr>Python scripts</vt:lpstr>
      <vt:lpstr>Using the command line</vt:lpstr>
      <vt:lpstr>Argument parsing - Argparse</vt:lpstr>
      <vt:lpstr>Argument parsing - Argparse</vt:lpstr>
      <vt:lpstr>Usage</vt:lpstr>
      <vt:lpstr>Default Values/Action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Lucy Sheppard</cp:lastModifiedBy>
  <cp:revision>151</cp:revision>
  <cp:lastPrinted>2018-12-03T21:06:47Z</cp:lastPrinted>
  <dcterms:created xsi:type="dcterms:W3CDTF">2013-07-15T20:26:40Z</dcterms:created>
  <dcterms:modified xsi:type="dcterms:W3CDTF">2025-12-02T23:17:21Z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0x01010055E39FBE7F04D548BD29E91DECF7B3B6</vt:lpwstr>
  </property>
</Properties>
</file>